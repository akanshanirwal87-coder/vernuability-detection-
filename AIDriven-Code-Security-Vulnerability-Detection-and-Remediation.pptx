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Source Sans 3" panose="020B0604020202020204" charset="0"/>
      <p:regular r:id="rId12"/>
    </p:embeddedFont>
    <p:embeddedFont>
      <p:font typeface="Source Serif 4 Semi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2050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880963"/>
            <a:ext cx="6223638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AI‑Driven Code Security: Vulnerability Detection &amp; Remediation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2940149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017165" y="3483670"/>
            <a:ext cx="5904559" cy="1406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Submitted by: </a:t>
            </a:r>
            <a:endParaRPr lang="en-US" sz="1550" dirty="0"/>
          </a:p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Akansha  (28240546)  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Vanshika (2840554)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98086" y="5114230"/>
            <a:ext cx="6223638" cy="8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596503"/>
            <a:ext cx="6223638" cy="403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u="sng" kern="0" spc="-51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Problem Statement &amp; Motivation</a:t>
            </a:r>
            <a:endParaRPr lang="en-US" sz="2500" u="sng" dirty="0"/>
          </a:p>
        </p:txBody>
      </p:sp>
      <p:sp>
        <p:nvSpPr>
          <p:cNvPr id="4" name="Text 1"/>
          <p:cNvSpPr/>
          <p:nvPr/>
        </p:nvSpPr>
        <p:spPr>
          <a:xfrm>
            <a:off x="5269971" y="1220788"/>
            <a:ext cx="6223638" cy="764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Modern applications combine large codebases, third‑party libraries, APIs and user inputs. Functional correctness does not guarantee security — latent vulnerabilities persist that attackers can exploit.   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2151459"/>
            <a:ext cx="3038201" cy="22363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86234" y="2280047"/>
            <a:ext cx="205675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27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460367" y="2837061"/>
            <a:ext cx="2657409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Existing Challenge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5460367" y="3177480"/>
            <a:ext cx="2657409" cy="1019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Traditional tools often emit raw alerts without context — developers need precise location, root cause and a usable fix.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5409" y="2151459"/>
            <a:ext cx="3038201" cy="22363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71671" y="2280047"/>
            <a:ext cx="205675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27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645805" y="2837061"/>
            <a:ext cx="2657409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Why It Matters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8645805" y="3177480"/>
            <a:ext cx="2657409" cy="1019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Undetected or poorly explained vulnerabilities increase breach risk, remediation time and developer friction.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69971" y="4535091"/>
            <a:ext cx="6223638" cy="172640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78953" y="4663678"/>
            <a:ext cx="205675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27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5460367" y="5220692"/>
            <a:ext cx="5842846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Our Idea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5460367" y="5561112"/>
            <a:ext cx="5842846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AI‑powered scanner that detects vulnerabilities, assesses risk, explains findings and recommends secure remediation steps.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575866"/>
            <a:ext cx="6223638" cy="432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u="sng" kern="0" spc="-55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Project Objectives</a:t>
            </a:r>
            <a:endParaRPr lang="en-US" sz="2700" u="sng" dirty="0"/>
          </a:p>
        </p:txBody>
      </p:sp>
      <p:sp>
        <p:nvSpPr>
          <p:cNvPr id="4" name="Shape 1"/>
          <p:cNvSpPr/>
          <p:nvPr/>
        </p:nvSpPr>
        <p:spPr>
          <a:xfrm>
            <a:off x="698086" y="1262856"/>
            <a:ext cx="413732" cy="413742"/>
          </a:xfrm>
          <a:prstGeom prst="roundRect">
            <a:avLst>
              <a:gd name="adj" fmla="val 18668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281279" y="1326059"/>
            <a:ext cx="564044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-34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Input &amp; Parsing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281279" y="1698228"/>
            <a:ext cx="5640445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Accept source via editor or file upload; accurately parse into AST and intermediate code representations.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98086" y="2602409"/>
            <a:ext cx="413732" cy="413742"/>
          </a:xfrm>
          <a:prstGeom prst="roundRect">
            <a:avLst>
              <a:gd name="adj" fmla="val 18668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281279" y="2665611"/>
            <a:ext cx="564044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-34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Hybrid Analysis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281279" y="3037780"/>
            <a:ext cx="5640445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Combine static analysis, control/data‑flow tracking and AI/ML models to detect nuanced vulnerabilities.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98086" y="3941961"/>
            <a:ext cx="413732" cy="413742"/>
          </a:xfrm>
          <a:prstGeom prst="roundRect">
            <a:avLst>
              <a:gd name="adj" fmla="val 18668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281279" y="4005163"/>
            <a:ext cx="564044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-34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Detection &amp; Output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281279" y="4377333"/>
            <a:ext cx="5640445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 classes like SQLi, XSS, Command Injection, Path Traversal, Hardcoded Secrets; report location, severity and remediation.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98086" y="5281513"/>
            <a:ext cx="413732" cy="413742"/>
          </a:xfrm>
          <a:prstGeom prst="roundRect">
            <a:avLst>
              <a:gd name="adj" fmla="val 18668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281279" y="5344716"/>
            <a:ext cx="564044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-34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Developer UX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281279" y="5716885"/>
            <a:ext cx="5640445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 explainable findings, suggested fixes and consolidated security reports/dashboard.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9273" y="818257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u="sng" kern="0" spc="-59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Proposed Architecture — System Overview</a:t>
            </a:r>
            <a:endParaRPr lang="en-US" sz="2950" u="sng" dirty="0"/>
          </a:p>
        </p:txBody>
      </p:sp>
      <p:sp>
        <p:nvSpPr>
          <p:cNvPr id="3" name="Text 1"/>
          <p:cNvSpPr/>
          <p:nvPr/>
        </p:nvSpPr>
        <p:spPr>
          <a:xfrm>
            <a:off x="698086" y="2237383"/>
            <a:ext cx="4590340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276165" y="1943001"/>
            <a:ext cx="4000414" cy="1595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endParaRPr lang="en-US" sz="15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EA79BE-7E97-6460-9344-B267CA281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2009"/>
            <a:ext cx="9326880" cy="51206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AABB7FB-FC89-E20C-01EC-C2D9072BFD3B}"/>
              </a:ext>
            </a:extLst>
          </p:cNvPr>
          <p:cNvSpPr txBox="1"/>
          <p:nvPr/>
        </p:nvSpPr>
        <p:spPr>
          <a:xfrm>
            <a:off x="9326880" y="1657921"/>
            <a:ext cx="28651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CORE TECHNOLOGY</a:t>
            </a:r>
          </a:p>
          <a:p>
            <a:r>
              <a:rPr lang="en-US" dirty="0"/>
              <a:t>AI/ML: </a:t>
            </a:r>
            <a:r>
              <a:rPr lang="en-US" dirty="0" err="1"/>
              <a:t>PyTorch</a:t>
            </a:r>
            <a:r>
              <a:rPr lang="en-US" dirty="0"/>
              <a:t>, Transformers</a:t>
            </a:r>
          </a:p>
          <a:p>
            <a:r>
              <a:rPr lang="en-US" dirty="0"/>
              <a:t>Security Knowledge: CWE / OWASP Rules</a:t>
            </a:r>
          </a:p>
          <a:p>
            <a:r>
              <a:rPr lang="en-US" dirty="0"/>
              <a:t>Database: SQLite / PostgreSQL</a:t>
            </a:r>
          </a:p>
          <a:p>
            <a:r>
              <a:rPr lang="en-US" dirty="0"/>
              <a:t>Deployment: Docker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A552CC8-6635-1BD2-BE4E-88BA6217869B}"/>
              </a:ext>
            </a:extLst>
          </p:cNvPr>
          <p:cNvSpPr/>
          <p:nvPr/>
        </p:nvSpPr>
        <p:spPr>
          <a:xfrm>
            <a:off x="9326880" y="1512009"/>
            <a:ext cx="2865120" cy="2694231"/>
          </a:xfrm>
          <a:prstGeom prst="roundRect">
            <a:avLst/>
          </a:prstGeom>
          <a:gradFill>
            <a:gsLst>
              <a:gs pos="0">
                <a:srgbClr val="7030A0">
                  <a:alpha val="30000"/>
                </a:srgbClr>
              </a:gs>
              <a:gs pos="100000">
                <a:srgbClr val="7030A0">
                  <a:alpha val="1000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86296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u="sng" kern="0" spc="-59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Methodology — End‑to‑End Pipeline</a:t>
            </a:r>
            <a:endParaRPr lang="en-US" sz="2950" u="sng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4C88D82-CB4E-8BCB-794C-63642D4B2973}"/>
              </a:ext>
            </a:extLst>
          </p:cNvPr>
          <p:cNvSpPr/>
          <p:nvPr/>
        </p:nvSpPr>
        <p:spPr>
          <a:xfrm>
            <a:off x="698086" y="5200624"/>
            <a:ext cx="9416585" cy="1195754"/>
          </a:xfrm>
          <a:prstGeom prst="rightArrow">
            <a:avLst/>
          </a:prstGeom>
          <a:gradFill>
            <a:gsLst>
              <a:gs pos="0">
                <a:srgbClr val="7030A0">
                  <a:alpha val="70000"/>
                </a:srgbClr>
              </a:gs>
              <a:gs pos="74000">
                <a:srgbClr val="7030A0">
                  <a:alpha val="70000"/>
                </a:srgbClr>
              </a:gs>
              <a:gs pos="83000">
                <a:srgbClr val="7030A0">
                  <a:alpha val="70000"/>
                </a:srgbClr>
              </a:gs>
              <a:gs pos="100000">
                <a:srgbClr val="7030A0">
                  <a:alpha val="70000"/>
                </a:srgbClr>
              </a:gs>
            </a:gsLst>
            <a:lin ang="540000" scaled="0"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4. Assessment &amp; Reporting 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2BA012B-55BB-6392-0E54-7F10F9EFF8B2}"/>
              </a:ext>
            </a:extLst>
          </p:cNvPr>
          <p:cNvSpPr/>
          <p:nvPr/>
        </p:nvSpPr>
        <p:spPr>
          <a:xfrm>
            <a:off x="698089" y="3916838"/>
            <a:ext cx="8094219" cy="1195754"/>
          </a:xfrm>
          <a:prstGeom prst="rightArrow">
            <a:avLst/>
          </a:prstGeom>
          <a:gradFill>
            <a:gsLst>
              <a:gs pos="0">
                <a:srgbClr val="7030A0">
                  <a:alpha val="70000"/>
                </a:srgbClr>
              </a:gs>
              <a:gs pos="74000">
                <a:srgbClr val="7030A0">
                  <a:alpha val="70000"/>
                </a:srgbClr>
              </a:gs>
              <a:gs pos="83000">
                <a:srgbClr val="7030A0">
                  <a:alpha val="70000"/>
                </a:srgbClr>
              </a:gs>
              <a:gs pos="100000">
                <a:srgbClr val="7030A0">
                  <a:alpha val="70000"/>
                </a:srgbClr>
              </a:gs>
            </a:gsLst>
            <a:lin ang="540000" scaled="0"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3. AI/ML Detection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5ED4B84-9F74-59E7-9844-3F2DC7A01B62}"/>
              </a:ext>
            </a:extLst>
          </p:cNvPr>
          <p:cNvSpPr/>
          <p:nvPr/>
        </p:nvSpPr>
        <p:spPr>
          <a:xfrm>
            <a:off x="698088" y="2721084"/>
            <a:ext cx="6434232" cy="1195754"/>
          </a:xfrm>
          <a:prstGeom prst="rightArrow">
            <a:avLst/>
          </a:prstGeom>
          <a:gradFill>
            <a:gsLst>
              <a:gs pos="0">
                <a:srgbClr val="7030A0">
                  <a:alpha val="70000"/>
                </a:srgbClr>
              </a:gs>
              <a:gs pos="74000">
                <a:srgbClr val="7030A0">
                  <a:alpha val="70000"/>
                </a:srgbClr>
              </a:gs>
              <a:gs pos="83000">
                <a:srgbClr val="7030A0">
                  <a:alpha val="70000"/>
                </a:srgbClr>
              </a:gs>
              <a:gs pos="100000">
                <a:srgbClr val="7030A0">
                  <a:alpha val="70000"/>
                </a:srgbClr>
              </a:gs>
            </a:gsLst>
            <a:lin ang="540000" scaled="0"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2. Code Parsing &amp; Analysis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D06102C-6A9F-473A-11C7-11285B48FFE1}"/>
              </a:ext>
            </a:extLst>
          </p:cNvPr>
          <p:cNvSpPr/>
          <p:nvPr/>
        </p:nvSpPr>
        <p:spPr>
          <a:xfrm>
            <a:off x="785397" y="1384531"/>
            <a:ext cx="5137101" cy="1195754"/>
          </a:xfrm>
          <a:prstGeom prst="rightArrow">
            <a:avLst/>
          </a:prstGeom>
          <a:gradFill>
            <a:gsLst>
              <a:gs pos="0">
                <a:srgbClr val="7030A0">
                  <a:alpha val="70000"/>
                </a:srgbClr>
              </a:gs>
              <a:gs pos="74000">
                <a:srgbClr val="7030A0">
                  <a:alpha val="70000"/>
                </a:srgbClr>
              </a:gs>
              <a:gs pos="83000">
                <a:srgbClr val="7030A0">
                  <a:alpha val="70000"/>
                </a:srgbClr>
              </a:gs>
              <a:gs pos="100000">
                <a:srgbClr val="7030A0">
                  <a:alpha val="70000"/>
                </a:srgbClr>
              </a:gs>
            </a:gsLst>
            <a:lin ang="540000" scaled="0"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1. source code input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46547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u="sng" kern="0" spc="-59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Vulnerabilities Detected — Target Classes &amp; Output</a:t>
            </a:r>
            <a:endParaRPr lang="en-US" sz="2950" u="sng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814909"/>
            <a:ext cx="728347" cy="9104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75763" y="1814909"/>
            <a:ext cx="153418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SQL Injection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75763" y="2227858"/>
            <a:ext cx="1534181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Malicious input forms unescaped DB queries → risk: data exfiltration, privilege escalation.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274" y="1814909"/>
            <a:ext cx="728347" cy="9104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36952" y="1814909"/>
            <a:ext cx="1534181" cy="879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Cross‑Site Scripting (XSS)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436952" y="2814439"/>
            <a:ext cx="1534181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Untrusted content rendered in browser → risk: cookie theft, session hijack.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463" y="1814909"/>
            <a:ext cx="728347" cy="9104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98140" y="1814909"/>
            <a:ext cx="1534181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Command Injection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198140" y="2521148"/>
            <a:ext cx="1534181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input executed as OS command → risk: remote command execution, system compromise.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1652" y="1814909"/>
            <a:ext cx="728446" cy="91053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59428" y="1814909"/>
            <a:ext cx="1534181" cy="879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Path Traversal &amp; Secrets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9959428" y="2814439"/>
            <a:ext cx="1534181" cy="223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Unauthorized file access or hardcoded credentials discovered → risk: information disclosure.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698086" y="5273080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33000"/>
              </a:lnSpc>
              <a:buFont typeface="Wingdings" panose="05000000000000000000" pitchFamily="2" charset="2"/>
              <a:buChar char="Ø"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Detection output format: Vulnerability → Code location (file:line) → Severity (Low/Medium/High/Critical) → Explanation → Evidence (taint trace) → Suggested fix.</a:t>
            </a:r>
            <a:endParaRPr lang="en-US" sz="155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F774EAE-4C35-DED0-DF98-70556D27DF39}"/>
              </a:ext>
            </a:extLst>
          </p:cNvPr>
          <p:cNvSpPr/>
          <p:nvPr/>
        </p:nvSpPr>
        <p:spPr>
          <a:xfrm>
            <a:off x="600501" y="1555845"/>
            <a:ext cx="2733542" cy="3024986"/>
          </a:xfrm>
          <a:prstGeom prst="roundRect">
            <a:avLst/>
          </a:prstGeom>
          <a:gradFill>
            <a:gsLst>
              <a:gs pos="0">
                <a:srgbClr val="7030A0">
                  <a:alpha val="0"/>
                </a:srgbClr>
              </a:gs>
              <a:gs pos="100000">
                <a:srgbClr val="7030A0">
                  <a:alpha val="5000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06D5324-60BD-D69D-CE4B-55807AEC055B}"/>
              </a:ext>
            </a:extLst>
          </p:cNvPr>
          <p:cNvSpPr/>
          <p:nvPr/>
        </p:nvSpPr>
        <p:spPr>
          <a:xfrm>
            <a:off x="3410482" y="1555845"/>
            <a:ext cx="2733542" cy="3024986"/>
          </a:xfrm>
          <a:prstGeom prst="roundRect">
            <a:avLst/>
          </a:prstGeom>
          <a:gradFill>
            <a:gsLst>
              <a:gs pos="0">
                <a:srgbClr val="7030A0">
                  <a:alpha val="0"/>
                </a:srgbClr>
              </a:gs>
              <a:gs pos="100000">
                <a:srgbClr val="7030A0">
                  <a:alpha val="5000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FE30B8C-4229-5836-51D7-CAE2C56E303E}"/>
              </a:ext>
            </a:extLst>
          </p:cNvPr>
          <p:cNvSpPr/>
          <p:nvPr/>
        </p:nvSpPr>
        <p:spPr>
          <a:xfrm>
            <a:off x="6220463" y="1555845"/>
            <a:ext cx="2733542" cy="3024986"/>
          </a:xfrm>
          <a:prstGeom prst="roundRect">
            <a:avLst/>
          </a:prstGeom>
          <a:gradFill>
            <a:gsLst>
              <a:gs pos="0">
                <a:srgbClr val="7030A0">
                  <a:alpha val="0"/>
                </a:srgbClr>
              </a:gs>
              <a:gs pos="100000">
                <a:srgbClr val="7030A0">
                  <a:alpha val="5000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4C21F34-387D-8603-E2E6-771C06254D8C}"/>
              </a:ext>
            </a:extLst>
          </p:cNvPr>
          <p:cNvSpPr/>
          <p:nvPr/>
        </p:nvSpPr>
        <p:spPr>
          <a:xfrm>
            <a:off x="9030444" y="1672924"/>
            <a:ext cx="2733542" cy="3375821"/>
          </a:xfrm>
          <a:prstGeom prst="roundRect">
            <a:avLst/>
          </a:prstGeom>
          <a:gradFill>
            <a:gsLst>
              <a:gs pos="0">
                <a:srgbClr val="7030A0">
                  <a:alpha val="0"/>
                </a:srgbClr>
              </a:gs>
              <a:gs pos="100000">
                <a:srgbClr val="7030A0">
                  <a:alpha val="5000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4654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u="sng" kern="0" spc="-59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Key Features &amp; Expected Deliverables</a:t>
            </a:r>
            <a:endParaRPr lang="en-US" sz="2950" u="sng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433016"/>
            <a:ext cx="498661" cy="498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2181027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Automated Detection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2593975"/>
            <a:ext cx="34322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Scans code and flags security weaknesses with contextual evidence.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9704" y="1433016"/>
            <a:ext cx="498661" cy="4986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79704" y="2181027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Location‑Aware Findings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379704" y="2593975"/>
            <a:ext cx="34322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Precise file and line references, with code snippets and taint paths.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1322" y="1433016"/>
            <a:ext cx="498661" cy="4986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1322" y="2181027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Risk Assessment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061322" y="2593975"/>
            <a:ext cx="34322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Severity assignment using rule heuristics and model confidence.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3631307"/>
            <a:ext cx="498661" cy="4986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8086" y="4379317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AI‑Assisted Explanation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98086" y="4792266"/>
            <a:ext cx="34322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Human‑readable rationale and step‑by‑step suggested fix examples.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79704" y="3631307"/>
            <a:ext cx="498661" cy="49867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79704" y="4379317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Developer Dashboard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4379704" y="4792266"/>
            <a:ext cx="34322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Consolidated report, filters, exportable remediation plan and CI/CD hooks.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698086" y="5654973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33000"/>
              </a:lnSpc>
              <a:buFont typeface="Wingdings" panose="05000000000000000000" pitchFamily="2" charset="2"/>
              <a:buChar char="Ø"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Evaluation metrics: Precision, Recall, False Positive / Negative rates — tracked per language and vulnerability class to guide iterative improvement.</a:t>
            </a:r>
            <a:endParaRPr lang="en-US" sz="1550" dirty="0"/>
          </a:p>
        </p:txBody>
      </p:sp>
      <p:sp>
        <p:nvSpPr>
          <p:cNvPr id="19" name="Rectangle: Diagonal Corners Snipped 18">
            <a:extLst>
              <a:ext uri="{FF2B5EF4-FFF2-40B4-BE49-F238E27FC236}">
                <a16:creationId xmlns:a16="http://schemas.microsoft.com/office/drawing/2014/main" id="{D4A60D0B-E46A-DC68-B793-EDDA199F24EE}"/>
              </a:ext>
            </a:extLst>
          </p:cNvPr>
          <p:cNvSpPr/>
          <p:nvPr/>
        </p:nvSpPr>
        <p:spPr>
          <a:xfrm>
            <a:off x="464024" y="1433016"/>
            <a:ext cx="3666350" cy="1948954"/>
          </a:xfrm>
          <a:prstGeom prst="snip2DiagRect">
            <a:avLst/>
          </a:prstGeom>
          <a:gradFill>
            <a:gsLst>
              <a:gs pos="0">
                <a:srgbClr val="7030A0">
                  <a:alpha val="0"/>
                </a:srgbClr>
              </a:gs>
              <a:gs pos="100000">
                <a:srgbClr val="7030A0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Diagonal Corners Snipped 19">
            <a:extLst>
              <a:ext uri="{FF2B5EF4-FFF2-40B4-BE49-F238E27FC236}">
                <a16:creationId xmlns:a16="http://schemas.microsoft.com/office/drawing/2014/main" id="{678DD2D9-C92F-FCFB-057B-6476AF6F55DB}"/>
              </a:ext>
            </a:extLst>
          </p:cNvPr>
          <p:cNvSpPr/>
          <p:nvPr/>
        </p:nvSpPr>
        <p:spPr>
          <a:xfrm>
            <a:off x="4186473" y="1418813"/>
            <a:ext cx="3666350" cy="1948954"/>
          </a:xfrm>
          <a:prstGeom prst="snip2DiagRect">
            <a:avLst/>
          </a:prstGeom>
          <a:gradFill>
            <a:gsLst>
              <a:gs pos="0">
                <a:srgbClr val="7030A0">
                  <a:alpha val="0"/>
                </a:srgbClr>
              </a:gs>
              <a:gs pos="100000">
                <a:srgbClr val="7030A0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Diagonal Corners Snipped 20">
            <a:extLst>
              <a:ext uri="{FF2B5EF4-FFF2-40B4-BE49-F238E27FC236}">
                <a16:creationId xmlns:a16="http://schemas.microsoft.com/office/drawing/2014/main" id="{E6745223-A4F8-AE58-8C40-986887B97421}"/>
              </a:ext>
            </a:extLst>
          </p:cNvPr>
          <p:cNvSpPr/>
          <p:nvPr/>
        </p:nvSpPr>
        <p:spPr>
          <a:xfrm>
            <a:off x="7811992" y="1358107"/>
            <a:ext cx="3666350" cy="1948954"/>
          </a:xfrm>
          <a:prstGeom prst="snip2DiagRect">
            <a:avLst/>
          </a:prstGeom>
          <a:gradFill>
            <a:gsLst>
              <a:gs pos="0">
                <a:srgbClr val="7030A0">
                  <a:alpha val="0"/>
                </a:srgbClr>
              </a:gs>
              <a:gs pos="100000">
                <a:srgbClr val="7030A0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Diagonal Corners Snipped 21">
            <a:extLst>
              <a:ext uri="{FF2B5EF4-FFF2-40B4-BE49-F238E27FC236}">
                <a16:creationId xmlns:a16="http://schemas.microsoft.com/office/drawing/2014/main" id="{24D29485-C388-4EC4-0994-883A425CC974}"/>
              </a:ext>
            </a:extLst>
          </p:cNvPr>
          <p:cNvSpPr/>
          <p:nvPr/>
        </p:nvSpPr>
        <p:spPr>
          <a:xfrm>
            <a:off x="3779411" y="3570600"/>
            <a:ext cx="3666350" cy="1948954"/>
          </a:xfrm>
          <a:prstGeom prst="snip2DiagRect">
            <a:avLst/>
          </a:prstGeom>
          <a:gradFill>
            <a:gsLst>
              <a:gs pos="0">
                <a:srgbClr val="7030A0">
                  <a:alpha val="0"/>
                </a:srgbClr>
              </a:gs>
              <a:gs pos="100000">
                <a:srgbClr val="7030A0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Diagonal Corners Snipped 22">
            <a:extLst>
              <a:ext uri="{FF2B5EF4-FFF2-40B4-BE49-F238E27FC236}">
                <a16:creationId xmlns:a16="http://schemas.microsoft.com/office/drawing/2014/main" id="{0FFDEB42-D2B3-DF8B-BF51-4260C35D31FE}"/>
              </a:ext>
            </a:extLst>
          </p:cNvPr>
          <p:cNvSpPr/>
          <p:nvPr/>
        </p:nvSpPr>
        <p:spPr>
          <a:xfrm>
            <a:off x="113061" y="3581003"/>
            <a:ext cx="3666350" cy="1948954"/>
          </a:xfrm>
          <a:prstGeom prst="snip2DiagRect">
            <a:avLst/>
          </a:prstGeom>
          <a:gradFill>
            <a:gsLst>
              <a:gs pos="0">
                <a:srgbClr val="7030A0">
                  <a:alpha val="0"/>
                </a:srgbClr>
              </a:gs>
              <a:gs pos="100000">
                <a:srgbClr val="7030A0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803573"/>
            <a:ext cx="6223638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u="sng" kern="0" spc="-59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Limitations &amp; Future Scope</a:t>
            </a:r>
            <a:endParaRPr lang="en-US" sz="2950" u="sng" dirty="0"/>
          </a:p>
        </p:txBody>
      </p:sp>
      <p:sp>
        <p:nvSpPr>
          <p:cNvPr id="4" name="Text 1"/>
          <p:cNvSpPr/>
          <p:nvPr/>
        </p:nvSpPr>
        <p:spPr>
          <a:xfrm>
            <a:off x="5269971" y="1771551"/>
            <a:ext cx="286854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Current Limitations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269971" y="2264271"/>
            <a:ext cx="2868541" cy="3720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Variable accuracy across languages and frameworks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False positives/negatives from incomplete context or missing dependencies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Runtime behaviours and dynamic code paths can be hard to model statically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Large repositories need significant compute and incremental scanning strategy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631418" y="1771551"/>
            <a:ext cx="286854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31418" y="2264271"/>
            <a:ext cx="2868541" cy="340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Cross‑file and repository‑level analysis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Dependency vulnerability scanning and SBOM integration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CI/CD integration for pre‑merge checks and automated patch suggestions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Explainable data‑flow visualizations and enterprise scaling</a:t>
            </a:r>
            <a:endParaRPr lang="en-US" sz="155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33EECCB-A6F6-6917-A11D-40F7BDEBBE63}"/>
              </a:ext>
            </a:extLst>
          </p:cNvPr>
          <p:cNvSpPr/>
          <p:nvPr/>
        </p:nvSpPr>
        <p:spPr>
          <a:xfrm>
            <a:off x="5072063" y="1485900"/>
            <a:ext cx="3066449" cy="4568527"/>
          </a:xfrm>
          <a:prstGeom prst="roundRect">
            <a:avLst/>
          </a:prstGeom>
          <a:gradFill>
            <a:gsLst>
              <a:gs pos="0">
                <a:srgbClr val="7030A0">
                  <a:alpha val="0"/>
                </a:srgbClr>
              </a:gs>
              <a:gs pos="100000">
                <a:srgbClr val="7030A0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0747063-2825-20D5-1097-7B6570E81223}"/>
              </a:ext>
            </a:extLst>
          </p:cNvPr>
          <p:cNvSpPr/>
          <p:nvPr/>
        </p:nvSpPr>
        <p:spPr>
          <a:xfrm>
            <a:off x="8336420" y="1416050"/>
            <a:ext cx="3163539" cy="4568527"/>
          </a:xfrm>
          <a:prstGeom prst="roundRect">
            <a:avLst/>
          </a:prstGeom>
          <a:gradFill>
            <a:gsLst>
              <a:gs pos="0">
                <a:srgbClr val="7030A0">
                  <a:alpha val="0"/>
                </a:srgbClr>
              </a:gs>
              <a:gs pos="100000">
                <a:srgbClr val="7030A0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653752"/>
            <a:ext cx="6223638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u="sng" kern="0" spc="-52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Conclusion &amp; Key Takeaways</a:t>
            </a:r>
            <a:endParaRPr lang="en-US" sz="2550" u="sng" dirty="0"/>
          </a:p>
        </p:txBody>
      </p:sp>
      <p:sp>
        <p:nvSpPr>
          <p:cNvPr id="4" name="Text 1"/>
          <p:cNvSpPr/>
          <p:nvPr/>
        </p:nvSpPr>
        <p:spPr>
          <a:xfrm>
            <a:off x="5269971" y="1293316"/>
            <a:ext cx="6223638" cy="785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By combining static program analysis, precise data‑flow tracking and AI/ML, the system moves beyond binary alerts to provide: What is wrong? Where is it? Why is it risky? How to fix it?   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269971" y="2250281"/>
            <a:ext cx="3035423" cy="1233488"/>
          </a:xfrm>
          <a:prstGeom prst="roundRect">
            <a:avLst>
              <a:gd name="adj" fmla="val 5943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50843" y="2431157"/>
            <a:ext cx="267368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Principle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50843" y="2779415"/>
            <a:ext cx="2673680" cy="5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+ Static Analysis + Data‑Flow → Explainable vulnerability detection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458088" y="2250281"/>
            <a:ext cx="3035522" cy="1233488"/>
          </a:xfrm>
          <a:prstGeom prst="roundRect">
            <a:avLst>
              <a:gd name="adj" fmla="val 5943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38959" y="2431157"/>
            <a:ext cx="267377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Outcome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38959" y="2779415"/>
            <a:ext cx="2673779" cy="5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Actionable remediation, reduced time to fix, improved developer confidence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269971" y="3636466"/>
            <a:ext cx="6223638" cy="1233488"/>
          </a:xfrm>
          <a:prstGeom prst="roundRect">
            <a:avLst>
              <a:gd name="adj" fmla="val 5943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50843" y="3817342"/>
            <a:ext cx="5861896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50843" y="4165600"/>
            <a:ext cx="5861896" cy="5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Prototype implementation, evaluation on multi‑language benchmarks, CI/CD integration and user studies with developers.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269971" y="5041702"/>
            <a:ext cx="6223638" cy="1162447"/>
          </a:xfrm>
          <a:prstGeom prst="roundRect">
            <a:avLst>
              <a:gd name="adj" fmla="val 6306"/>
            </a:avLst>
          </a:prstGeom>
          <a:solidFill>
            <a:srgbClr val="F0D4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4493" y="5262959"/>
            <a:ext cx="218177" cy="17452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837191" y="5237956"/>
            <a:ext cx="5481897" cy="785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kern="0" spc="-27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Modular architecture and explainability are central — the platform is designed to be maintainable, extensible and production‑ready for future security analysis capabilities.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701</Words>
  <Application>Microsoft Office PowerPoint</Application>
  <PresentationFormat>Widescreen</PresentationFormat>
  <Paragraphs>87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Source Sans 3</vt:lpstr>
      <vt:lpstr>Wingdings</vt:lpstr>
      <vt:lpstr>Source Serif 4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Akansha Nirwal</cp:lastModifiedBy>
  <cp:revision>4</cp:revision>
  <dcterms:created xsi:type="dcterms:W3CDTF">2026-09-20T16:44:20Z</dcterms:created>
  <dcterms:modified xsi:type="dcterms:W3CDTF">2026-09-21T01:24:08Z</dcterms:modified>
</cp:coreProperties>
</file>